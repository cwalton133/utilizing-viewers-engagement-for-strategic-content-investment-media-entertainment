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140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1" dirty="0"/>
              <a:t>Genre Ranked</a:t>
            </a:r>
            <a:r>
              <a:rPr lang="en-US" b="1" baseline="0" dirty="0"/>
              <a:t> n=by Engagement</a:t>
            </a:r>
            <a:endParaRPr lang="en-US" b="1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Biography</c:v>
                </c:pt>
                <c:pt idx="1">
                  <c:v>Horror</c:v>
                </c:pt>
                <c:pt idx="2">
                  <c:v>Musical</c:v>
                </c:pt>
                <c:pt idx="3">
                  <c:v>Kids</c:v>
                </c:pt>
                <c:pt idx="4">
                  <c:v>Documentary</c:v>
                </c:pt>
                <c:pt idx="5">
                  <c:v>Action</c:v>
                </c:pt>
                <c:pt idx="6">
                  <c:v>Sci_Fi</c:v>
                </c:pt>
                <c:pt idx="7">
                  <c:v>Drama </c:v>
                </c:pt>
                <c:pt idx="8">
                  <c:v>Commedy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4</c:v>
                </c:pt>
                <c:pt idx="8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906-4986-A989-D099DEB3C69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Biography</c:v>
                </c:pt>
                <c:pt idx="1">
                  <c:v>Horror</c:v>
                </c:pt>
                <c:pt idx="2">
                  <c:v>Musical</c:v>
                </c:pt>
                <c:pt idx="3">
                  <c:v>Kids</c:v>
                </c:pt>
                <c:pt idx="4">
                  <c:v>Documentary</c:v>
                </c:pt>
                <c:pt idx="5">
                  <c:v>Action</c:v>
                </c:pt>
                <c:pt idx="6">
                  <c:v>Sci_Fi</c:v>
                </c:pt>
                <c:pt idx="7">
                  <c:v>Drama </c:v>
                </c:pt>
                <c:pt idx="8">
                  <c:v>Commedy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4</c:v>
                </c:pt>
                <c:pt idx="8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906-4986-A989-D099DEB3C69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Biography</c:v>
                </c:pt>
                <c:pt idx="1">
                  <c:v>Horror</c:v>
                </c:pt>
                <c:pt idx="2">
                  <c:v>Musical</c:v>
                </c:pt>
                <c:pt idx="3">
                  <c:v>Kids</c:v>
                </c:pt>
                <c:pt idx="4">
                  <c:v>Documentary</c:v>
                </c:pt>
                <c:pt idx="5">
                  <c:v>Action</c:v>
                </c:pt>
                <c:pt idx="6">
                  <c:v>Sci_Fi</c:v>
                </c:pt>
                <c:pt idx="7">
                  <c:v>Drama </c:v>
                </c:pt>
                <c:pt idx="8">
                  <c:v>Commedy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4</c:v>
                </c:pt>
                <c:pt idx="8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906-4986-A989-D099DEB3C6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55388847"/>
        <c:axId val="1950665631"/>
      </c:barChart>
      <c:catAx>
        <c:axId val="195538884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0665631"/>
        <c:crosses val="autoZero"/>
        <c:auto val="1"/>
        <c:lblAlgn val="ctr"/>
        <c:lblOffset val="100"/>
        <c:noMultiLvlLbl val="0"/>
      </c:catAx>
      <c:valAx>
        <c:axId val="195066563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538884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2791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the business challenge, scope, and why this analysis matters to executive decision-making.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Summarize insights quickly. Emphasize ROI-driven content decisions under budget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how these genres influence sustained subscriptions.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Highlight difference between views and retention — what actually reduces churn.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Showcase Horror as a loyalty driver despite lower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Translate analytics into concrete investment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Position content strategy as risk-managed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with forward-looking execution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Oval 9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0" y="2226503"/>
            <a:ext cx="5917679" cy="255087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0" y="4777380"/>
            <a:ext cx="5917679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7498080" y="1828800"/>
            <a:ext cx="990599" cy="22865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6236208" y="3264408"/>
            <a:ext cx="3859795" cy="228660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177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970" y="927098"/>
            <a:ext cx="6343672" cy="709865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9131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 rot="16200000">
              <a:off x="3105027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/>
            <p:nvPr/>
          </p:nvSpPr>
          <p:spPr bwMode="gray">
            <a:xfrm rot="15687606">
              <a:off x="3320102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7534" y="2257588"/>
            <a:ext cx="3090672" cy="3020344"/>
          </a:xfrm>
        </p:spPr>
        <p:txBody>
          <a:bodyPr anchor="ctr"/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19261" y="2257588"/>
            <a:ext cx="3082516" cy="302034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20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440" y="2489200"/>
            <a:ext cx="3636980" cy="3530603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0581" y="2489203"/>
            <a:ext cx="3636980" cy="353060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598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9918" y="2489200"/>
            <a:ext cx="3633502" cy="75929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6440" y="3248490"/>
            <a:ext cx="3636980" cy="2771311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0581" y="2489200"/>
            <a:ext cx="3636979" cy="75663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0581" y="3245835"/>
            <a:ext cx="3636980" cy="277396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9218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113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9615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 bwMode="gray">
            <a:xfrm rot="16200000">
              <a:off x="2548536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2" name="Freeform 5"/>
            <p:cNvSpPr/>
            <p:nvPr/>
          </p:nvSpPr>
          <p:spPr bwMode="gray">
            <a:xfrm rot="15687606">
              <a:off x="2769747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447800"/>
            <a:ext cx="2712590" cy="1495588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68927" y="1447800"/>
            <a:ext cx="3632850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1" y="3086845"/>
            <a:ext cx="2712589" cy="2933701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624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 bwMode="gray">
            <a:xfrm rot="16200000">
              <a:off x="2852610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4" name="Freeform 5"/>
            <p:cNvSpPr/>
            <p:nvPr/>
          </p:nvSpPr>
          <p:spPr bwMode="gray">
            <a:xfrm rot="15687606">
              <a:off x="3074559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381390"/>
            <a:ext cx="2987089" cy="157480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722909" y="1320800"/>
            <a:ext cx="2791102" cy="42164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086100"/>
            <a:ext cx="2987089" cy="24511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489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10204164">
              <a:off x="426788" y="456424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6" name="Rectangle 15"/>
            <p:cNvSpPr/>
            <p:nvPr/>
          </p:nvSpPr>
          <p:spPr>
            <a:xfrm>
              <a:off x="421503" y="402165"/>
              <a:ext cx="8327939" cy="3141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 rot="10800000">
              <a:off x="485023" y="2670079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4961454"/>
            <a:ext cx="642200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1" y="685800"/>
            <a:ext cx="6422004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0" y="5528192"/>
            <a:ext cx="6422004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898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21010068">
              <a:off x="6359946" y="2780895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9" name="Rectangle 8"/>
            <p:cNvSpPr/>
            <p:nvPr/>
          </p:nvSpPr>
          <p:spPr>
            <a:xfrm>
              <a:off x="485023" y="4343399"/>
              <a:ext cx="8182128" cy="21124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>
              <a:off x="485023" y="2854646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2005" cy="169272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488023"/>
            <a:ext cx="6422005" cy="2536857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7539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21010068">
              <a:off x="6359946" y="430920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10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4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3" name="TextBox 22"/>
          <p:cNvSpPr txBox="1"/>
          <p:nvPr/>
        </p:nvSpPr>
        <p:spPr bwMode="gray">
          <a:xfrm>
            <a:off x="647430" y="651690"/>
            <a:ext cx="60159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 bwMode="gray">
          <a:xfrm>
            <a:off x="7069418" y="2900292"/>
            <a:ext cx="61906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8060" y="927099"/>
            <a:ext cx="6160385" cy="2882179"/>
          </a:xfrm>
        </p:spPr>
        <p:txBody>
          <a:bodyPr anchor="ctr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387278" y="3809278"/>
            <a:ext cx="5646143" cy="333113"/>
          </a:xfrm>
        </p:spPr>
        <p:txBody>
          <a:bodyPr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5000816"/>
            <a:ext cx="6343673" cy="101061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1745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Oval 1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5"/>
            <p:cNvSpPr/>
            <p:nvPr/>
          </p:nvSpPr>
          <p:spPr bwMode="gray">
            <a:xfrm rot="21010068">
              <a:off x="6359946" y="431124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7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7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2057400"/>
            <a:ext cx="6422005" cy="20955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1" y="5024908"/>
            <a:ext cx="6422004" cy="994891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6456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3593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2489200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5"/>
          </p:nvPr>
        </p:nvSpPr>
        <p:spPr>
          <a:xfrm>
            <a:off x="866440" y="3147164"/>
            <a:ext cx="2313432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05614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6"/>
          </p:nvPr>
        </p:nvSpPr>
        <p:spPr>
          <a:xfrm>
            <a:off x="3408471" y="3147164"/>
            <a:ext cx="2318918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60935" y="3147164"/>
            <a:ext cx="2316625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294530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3153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345260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4179596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9055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8"/>
          </p:nvPr>
        </p:nvSpPr>
        <p:spPr>
          <a:xfrm>
            <a:off x="866439" y="4837558"/>
            <a:ext cx="2313432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11125" y="4179595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8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553189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11125" y="484820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4179596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9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08641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58642" y="483755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40" name="Straight Connector 39"/>
          <p:cNvCxnSpPr/>
          <p:nvPr/>
        </p:nvCxnSpPr>
        <p:spPr>
          <a:xfrm>
            <a:off x="3290019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4414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21301" y="6387910"/>
            <a:ext cx="990599" cy="228659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6133" y="6387910"/>
            <a:ext cx="3859795" cy="2286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5359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20420" cy="6860798"/>
            <a:chOff x="-1588" y="0"/>
            <a:chExt cx="9120420" cy="6860798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Freeform 5"/>
            <p:cNvSpPr/>
            <p:nvPr/>
          </p:nvSpPr>
          <p:spPr bwMode="gray">
            <a:xfrm rot="4966650">
              <a:off x="4673046" y="5107506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</p:grpSp>
      <p:sp>
        <p:nvSpPr>
          <p:cNvPr id="17" name="Rectangle 16"/>
          <p:cNvSpPr/>
          <p:nvPr/>
        </p:nvSpPr>
        <p:spPr>
          <a:xfrm>
            <a:off x="414867" y="402165"/>
            <a:ext cx="4610565" cy="605367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 bwMode="gray">
          <a:xfrm rot="5400000">
            <a:off x="1299309" y="1765596"/>
            <a:ext cx="5995993" cy="3326809"/>
          </a:xfrm>
          <a:custGeom>
            <a:avLst/>
            <a:gdLst/>
            <a:ahLst/>
            <a:cxnLst/>
            <a:rect l="0" t="0" r="r" b="b"/>
            <a:pathLst>
              <a:path w="4960" h="2752">
                <a:moveTo>
                  <a:pt x="0" y="0"/>
                </a:moveTo>
                <a:lnTo>
                  <a:pt x="0" y="324"/>
                </a:lnTo>
                <a:lnTo>
                  <a:pt x="0" y="1992"/>
                </a:lnTo>
                <a:lnTo>
                  <a:pt x="0" y="2752"/>
                </a:lnTo>
                <a:lnTo>
                  <a:pt x="4960" y="2752"/>
                </a:lnTo>
                <a:lnTo>
                  <a:pt x="4960" y="1992"/>
                </a:lnTo>
                <a:lnTo>
                  <a:pt x="4960" y="324"/>
                </a:lnTo>
                <a:lnTo>
                  <a:pt x="4960" y="0"/>
                </a:lnTo>
                <a:lnTo>
                  <a:pt x="4960" y="0"/>
                </a:lnTo>
                <a:lnTo>
                  <a:pt x="4734" y="34"/>
                </a:lnTo>
                <a:lnTo>
                  <a:pt x="4510" y="64"/>
                </a:lnTo>
                <a:lnTo>
                  <a:pt x="4284" y="90"/>
                </a:lnTo>
                <a:lnTo>
                  <a:pt x="4060" y="114"/>
                </a:lnTo>
                <a:lnTo>
                  <a:pt x="3836" y="132"/>
                </a:lnTo>
                <a:lnTo>
                  <a:pt x="3614" y="146"/>
                </a:lnTo>
                <a:lnTo>
                  <a:pt x="3392" y="158"/>
                </a:lnTo>
                <a:lnTo>
                  <a:pt x="3174" y="166"/>
                </a:lnTo>
                <a:lnTo>
                  <a:pt x="2960" y="172"/>
                </a:lnTo>
                <a:lnTo>
                  <a:pt x="2748" y="174"/>
                </a:lnTo>
                <a:lnTo>
                  <a:pt x="2542" y="174"/>
                </a:lnTo>
                <a:lnTo>
                  <a:pt x="2338" y="174"/>
                </a:lnTo>
                <a:lnTo>
                  <a:pt x="2140" y="170"/>
                </a:lnTo>
                <a:lnTo>
                  <a:pt x="1948" y="164"/>
                </a:lnTo>
                <a:lnTo>
                  <a:pt x="1762" y="156"/>
                </a:lnTo>
                <a:lnTo>
                  <a:pt x="1582" y="148"/>
                </a:lnTo>
                <a:lnTo>
                  <a:pt x="1410" y="138"/>
                </a:lnTo>
                <a:lnTo>
                  <a:pt x="1244" y="128"/>
                </a:lnTo>
                <a:lnTo>
                  <a:pt x="1088" y="116"/>
                </a:lnTo>
                <a:lnTo>
                  <a:pt x="938" y="104"/>
                </a:lnTo>
                <a:lnTo>
                  <a:pt x="668" y="78"/>
                </a:lnTo>
                <a:lnTo>
                  <a:pt x="438" y="54"/>
                </a:lnTo>
                <a:lnTo>
                  <a:pt x="254" y="34"/>
                </a:lnTo>
                <a:lnTo>
                  <a:pt x="116" y="1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8" name="Freeform 5"/>
          <p:cNvSpPr>
            <a:spLocks noEditPoints="1"/>
          </p:cNvSpPr>
          <p:nvPr/>
        </p:nvSpPr>
        <p:spPr bwMode="gray">
          <a:xfrm>
            <a:off x="0" y="0"/>
            <a:ext cx="9144000" cy="6858000"/>
          </a:xfrm>
          <a:custGeom>
            <a:avLst/>
            <a:gdLst/>
            <a:ahLst/>
            <a:cxnLst/>
            <a:rect l="0" t="0" r="r" b="b"/>
            <a:pathLst>
              <a:path w="5760" h="4320">
                <a:moveTo>
                  <a:pt x="0" y="0"/>
                </a:moveTo>
                <a:lnTo>
                  <a:pt x="0" y="4320"/>
                </a:lnTo>
                <a:lnTo>
                  <a:pt x="5760" y="4320"/>
                </a:lnTo>
                <a:lnTo>
                  <a:pt x="5760" y="0"/>
                </a:lnTo>
                <a:lnTo>
                  <a:pt x="0" y="0"/>
                </a:lnTo>
                <a:close/>
                <a:moveTo>
                  <a:pt x="5444" y="4004"/>
                </a:moveTo>
                <a:lnTo>
                  <a:pt x="324" y="4004"/>
                </a:lnTo>
                <a:lnTo>
                  <a:pt x="324" y="324"/>
                </a:lnTo>
                <a:lnTo>
                  <a:pt x="5444" y="324"/>
                </a:lnTo>
                <a:lnTo>
                  <a:pt x="5444" y="400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74928" y="1447799"/>
            <a:ext cx="1113516" cy="4572001"/>
          </a:xfrm>
        </p:spPr>
        <p:txBody>
          <a:bodyPr vert="eaVert" anchor="ctr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738" y="1447799"/>
            <a:ext cx="4416936" cy="45720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8546" y="6365498"/>
            <a:ext cx="3859795" cy="2286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474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Freeform 5"/>
            <p:cNvSpPr/>
            <p:nvPr/>
          </p:nvSpPr>
          <p:spPr bwMode="gray">
            <a:xfrm rot="21010068">
              <a:off x="6359946" y="179029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25" name="Freeform 24"/>
            <p:cNvSpPr/>
            <p:nvPr/>
          </p:nvSpPr>
          <p:spPr bwMode="gray">
            <a:xfrm>
              <a:off x="485023" y="1856450"/>
              <a:ext cx="8173954" cy="4535226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866440" y="927099"/>
            <a:ext cx="6345260" cy="7098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4382" y="2489200"/>
            <a:ext cx="6345260" cy="353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74443" y="6365498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 b="1" i="0">
                <a:solidFill>
                  <a:schemeClr val="accent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0843" y="6365497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>
                <a:solidFill>
                  <a:schemeClr val="bg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298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b="0" i="0" kern="120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83464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6012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3444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0876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0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25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4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b="1" dirty="0" err="1"/>
              <a:t>StreamWave</a:t>
            </a:r>
            <a:r>
              <a:rPr b="1" dirty="0"/>
              <a:t> Entertainment</a:t>
            </a:r>
          </a:p>
          <a:p>
            <a:r>
              <a:rPr b="1" dirty="0"/>
              <a:t>Content Strategy &amp; Retention Optimization</a:t>
            </a:r>
            <a:br>
              <a:rPr lang="en-US" b="1" dirty="0">
                <a:solidFill>
                  <a:srgbClr val="FF0000"/>
                </a:solidFill>
              </a:rPr>
            </a:br>
            <a:endParaRPr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type="body" sz="half" idx="2"/>
          </p:nvPr>
        </p:nvSpPr>
        <p:spPr>
          <a:xfrm>
            <a:off x="794521" y="5518882"/>
            <a:ext cx="7722756" cy="412019"/>
          </a:xfrm>
        </p:spPr>
        <p:txBody>
          <a:bodyPr>
            <a:normAutofit fontScale="25000" lnSpcReduction="20000"/>
          </a:bodyPr>
          <a:lstStyle/>
          <a:p>
            <a:r>
              <a:rPr sz="16000" b="1" dirty="0"/>
              <a:t>Genre Performance Analysis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sz="9600" b="1" dirty="0"/>
              <a:t>Created by Charles Walton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040204-4E70-40E4-99C6-40150609E1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482885" y="3248490"/>
            <a:ext cx="4020535" cy="3306422"/>
          </a:xfrm>
        </p:spPr>
        <p:txBody>
          <a:bodyPr>
            <a:normAutofit/>
          </a:bodyPr>
          <a:lstStyle/>
          <a:p>
            <a:r>
              <a:rPr dirty="0"/>
              <a:t>• Drama and Comedy drive the highest engagement and retention</a:t>
            </a:r>
          </a:p>
          <a:p>
            <a:r>
              <a:rPr dirty="0"/>
              <a:t>• Horror shows strongest viewer loyalty</a:t>
            </a:r>
          </a:p>
          <a:p>
            <a:r>
              <a:rPr dirty="0"/>
              <a:t>• Biography underperforms despite high completion</a:t>
            </a:r>
          </a:p>
          <a:p>
            <a:r>
              <a:rPr dirty="0"/>
              <a:t>• Recommendation: Focus investment on high-retention genres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8148AD-D647-4EE1-9603-69E54B835F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187A828C-59C9-45CE-BF75-512B518258D9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251683301"/>
              </p:ext>
            </p:extLst>
          </p:nvPr>
        </p:nvGraphicFramePr>
        <p:xfrm>
          <a:off x="4645025" y="2174874"/>
          <a:ext cx="4498975" cy="46831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Performing Genres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9321" y="2489199"/>
            <a:ext cx="6860321" cy="4004067"/>
          </a:xfrm>
        </p:spPr>
        <p:txBody>
          <a:bodyPr/>
          <a:lstStyle/>
          <a:p>
            <a:r>
              <a:rPr dirty="0"/>
              <a:t>Drama: Highest total &amp; repeat views</a:t>
            </a:r>
          </a:p>
          <a:p>
            <a:r>
              <a:rPr dirty="0"/>
              <a:t>Comedy: Strong engagement &amp; repeat behavior</a:t>
            </a:r>
          </a:p>
          <a:p>
            <a:r>
              <a:rPr dirty="0"/>
              <a:t>Documentary: Stable engagement</a:t>
            </a:r>
          </a:p>
          <a:p>
            <a:r>
              <a:rPr dirty="0"/>
              <a:t>Sci‑Fi: Niche growth opportunity</a:t>
            </a:r>
          </a:p>
          <a:p>
            <a:r>
              <a:rPr dirty="0"/>
              <a:t>Action: High excitement, moderate loyalty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Engagement &amp; Loyalty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480" y="2961811"/>
            <a:ext cx="6345260" cy="3530600"/>
          </a:xfrm>
        </p:spPr>
        <p:txBody>
          <a:bodyPr/>
          <a:lstStyle/>
          <a:p>
            <a:r>
              <a:rPr dirty="0"/>
              <a:t>Horror leads in loyalty</a:t>
            </a:r>
          </a:p>
          <a:p>
            <a:r>
              <a:rPr dirty="0"/>
              <a:t>Comedy &amp; Drama maintain consistent engagement</a:t>
            </a:r>
          </a:p>
          <a:p>
            <a:r>
              <a:rPr dirty="0"/>
              <a:t>Sci‑Fi &amp; Action show strong volume but variable retention</a:t>
            </a:r>
          </a:p>
          <a:p>
            <a:r>
              <a:rPr dirty="0"/>
              <a:t>Biography lags in renewal impact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Metrics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Avg Horror Watch Time: 100 mins</a:t>
            </a:r>
          </a:p>
          <a:p>
            <a:r>
              <a:t>Repeat View Rate: 3x</a:t>
            </a:r>
          </a:p>
          <a:p>
            <a:r>
              <a:t>Engagement Rate: 76%</a:t>
            </a:r>
          </a:p>
          <a:p>
            <a:r>
              <a:t>Retention Rate: 88%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Strategic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Increase Drama &amp; Comedy marketing spend</a:t>
            </a:r>
          </a:p>
          <a:p>
            <a:r>
              <a:t>• Develop niche sub-genres (Sci‑Fi, Action)</a:t>
            </a:r>
          </a:p>
          <a:p>
            <a:r>
              <a:t>• Improve Biography retention strategy</a:t>
            </a:r>
          </a:p>
          <a:p>
            <a:r>
              <a:t>• Refresh Documentary formats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Diversification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Balance flagship genres with experimental content</a:t>
            </a:r>
          </a:p>
          <a:p>
            <a:r>
              <a:rPr dirty="0"/>
              <a:t>Reduce churn risk via diversified engagement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Align dashboards with exec KPIs</a:t>
            </a:r>
          </a:p>
          <a:p>
            <a:r>
              <a:t>Deploy genre-based content investments</a:t>
            </a:r>
          </a:p>
          <a:p>
            <a:r>
              <a:t>Track renewal lift monthly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37</TotalTime>
  <Words>282</Words>
  <Application>Microsoft Office PowerPoint</Application>
  <PresentationFormat>On-screen Show (4:3)</PresentationFormat>
  <Paragraphs>53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Century Gothic</vt:lpstr>
      <vt:lpstr>Wingdings 3</vt:lpstr>
      <vt:lpstr>Ion Boardroom</vt:lpstr>
      <vt:lpstr>StreamWave Entertainment Content Strategy &amp; Retention Optimization </vt:lpstr>
      <vt:lpstr>Executive Summary</vt:lpstr>
      <vt:lpstr>Top Performing Genres</vt:lpstr>
      <vt:lpstr>Engagement &amp; Loyalty Insights</vt:lpstr>
      <vt:lpstr>Key Metrics Snapshot</vt:lpstr>
      <vt:lpstr>Strategic Recommendations</vt:lpstr>
      <vt:lpstr>Portfolio Diversification Strategy</vt:lpstr>
      <vt:lpstr>Conclusion &amp; Next Steps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StreamWave Entertainment Content Strategy &amp; Retention Optimization </dc:title>
  <dc:subject/>
  <dc:creator/>
  <cp:keywords/>
  <dc:description>generated using python-pptx</dc:description>
  <cp:lastModifiedBy>CHARLES WALTON</cp:lastModifiedBy>
  <cp:revision>10</cp:revision>
  <dcterms:created xsi:type="dcterms:W3CDTF">2013-01-27T09:14:16Z</dcterms:created>
  <dcterms:modified xsi:type="dcterms:W3CDTF">2026-01-26T07:38:23Z</dcterms:modified>
  <cp:category/>
</cp:coreProperties>
</file>